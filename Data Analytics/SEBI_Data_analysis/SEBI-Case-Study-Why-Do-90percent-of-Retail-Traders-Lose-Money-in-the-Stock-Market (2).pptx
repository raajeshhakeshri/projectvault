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Fraunces ExtraBold"/>
      <p:regular r:id="rId201314"/>
    </p:embeddedFont>
    <p:embeddedFont>
      <p:font typeface="Nobile"/>
      <p:regular r:id="rId201315"/>
    </p:embeddedFont>
    <p:embeddedFont>
      <p:font typeface="Nobil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669"/>
            <a:ext cx="10868745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SEBI Case Study: Why Do 90% of Retail Traders Lose Money in the Stock Market?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95636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 Data-Driven Root Cause Analysis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61475" y="209937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368352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Scope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2831505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SEBI F&amp;O Retail Trader Loss Analysis — Case Study covering Root Cause Analysis, Pareto Insights, Executive KPIs, KPI Analysis and Strategic Recommendations and Outcome Monitoring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3471664"/>
            <a:ext cx="5364624" cy="903982"/>
          </a:xfrm>
          <a:prstGeom prst="roundRect">
            <a:avLst>
              <a:gd name="adj" fmla="val 16172"/>
            </a:avLst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823892" y="3634085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4AF37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89%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3892" y="3971627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Retail F&amp;O traders incur net losses annually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5597" y="3471664"/>
            <a:ext cx="5364624" cy="903982"/>
          </a:xfrm>
          <a:prstGeom prst="roundRect">
            <a:avLst>
              <a:gd name="adj" fmla="val 16172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6328014" y="3634085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4AF37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₹1.1L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28014" y="3971627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annual loss per individual trader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4515148"/>
            <a:ext cx="5364624" cy="903982"/>
          </a:xfrm>
          <a:prstGeom prst="roundRect">
            <a:avLst>
              <a:gd name="adj" fmla="val 16172"/>
            </a:avLst>
          </a:prstGeom>
          <a:solidFill>
            <a:srgbClr val="E8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823892" y="4677569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4AF37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7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3892" y="5015111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Distinct root causes identified via MECE framework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5597" y="4515148"/>
            <a:ext cx="5364624" cy="903982"/>
          </a:xfrm>
          <a:prstGeom prst="roundRect">
            <a:avLst>
              <a:gd name="adj" fmla="val 16172"/>
            </a:avLst>
          </a:prstGeom>
          <a:solidFill>
            <a:srgbClr val="E8F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328014" y="4677569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4AF37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80%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28014" y="5015111"/>
            <a:ext cx="50397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losses driven by just a handful of behaviours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1475" y="5628481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Prepared By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1890" y="6091634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Rajesh Keshri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188"/>
            <a:ext cx="1531998" cy="251420"/>
          </a:xfrm>
          <a:prstGeom prst="roundRect">
            <a:avLst>
              <a:gd name="adj" fmla="val 47364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71798"/>
            <a:ext cx="194315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31453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Despite Rising Market Participation, Retail Traders Are Losing at Scale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81907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Despite increasing participation in India's capital markets, a significant majority of retail traders incur losses, particularly in the Futures &amp; Options (F&amp;O) segment. The pattern is systemic, repeatable, and data-substantiated by SEBI's own research.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885380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Findings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306564"/>
            <a:ext cx="2825779" cy="13608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2017" y="3490913"/>
            <a:ext cx="238089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Nearly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90% of retail F&amp;O traders lose money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on a net basis after accounting for transaction costs.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1911" y="3306564"/>
            <a:ext cx="2825779" cy="13608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92453" y="3490913"/>
            <a:ext cx="238089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small percentage consistently earn profits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suggesting edge is achievable but structurally rare.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12109"/>
            <a:ext cx="2825779" cy="13608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4996458"/>
            <a:ext cx="238089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High trading frequency and excessive leverage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among the strongest predictors of amplified losses.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1911" y="4812109"/>
            <a:ext cx="2825779" cy="13608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92453" y="4996458"/>
            <a:ext cx="238089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Transaction costs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brokerage, STT, and slippage — further erode already thin margins.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748393" y="2740720"/>
            <a:ext cx="4907137" cy="3594993"/>
          </a:xfrm>
          <a:prstGeom prst="roundRect">
            <a:avLst>
              <a:gd name="adj" fmla="val 6625"/>
            </a:avLst>
          </a:prstGeom>
          <a:solidFill>
            <a:srgbClr val="2D5016"/>
          </a:solidFill>
          <a:ln/>
        </p:spPr>
      </p:sp>
      <p:sp>
        <p:nvSpPr>
          <p:cNvPr id="16" name="Text 10"/>
          <p:cNvSpPr/>
          <p:nvPr/>
        </p:nvSpPr>
        <p:spPr>
          <a:xfrm>
            <a:off x="6913687" y="2885380"/>
            <a:ext cx="457654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913687" y="3288506"/>
            <a:ext cx="4576549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the key drivers behind retail trading losses and recommend data-driven, actionable solutions that improve long-term trading outcomes for individual participants.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913687" y="4484688"/>
            <a:ext cx="4576549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6913687" y="4707731"/>
            <a:ext cx="457654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913687" y="5110857"/>
            <a:ext cx="457654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MECE Root Cause Framework · Pareto (80/20) Analysis · Behavioural Pattern Mapping · KPI Definition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4236"/>
            <a:ext cx="1142277" cy="165993"/>
          </a:xfrm>
          <a:prstGeom prst="roundRect">
            <a:avLst>
              <a:gd name="adj" fmla="val 47399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26958" y="586978"/>
            <a:ext cx="1620896" cy="10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ROOT CAUSE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45430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~91% of Retail Traders Generate Negative Net Returns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661475" y="1181596"/>
            <a:ext cx="10868745" cy="312440"/>
          </a:xfrm>
          <a:prstGeom prst="roundRect">
            <a:avLst>
              <a:gd name="adj" fmla="val 31478"/>
            </a:avLst>
          </a:prstGeom>
          <a:solidFill>
            <a:srgbClr val="DDEE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712" y="1271984"/>
            <a:ext cx="136522" cy="109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471" y="1271984"/>
            <a:ext cx="11014097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SEBI Reference: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89% of individual F&amp;O traders incurred losses, with average annual losses of approximately ₹1.1 lakh per trader.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61475" y="1628180"/>
            <a:ext cx="5301125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1. No Clear Trading Plan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1475" y="1862038"/>
            <a:ext cx="591071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Trading without a proven and tested approach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61475" y="2056805"/>
            <a:ext cx="530112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clear rules for when to buy, sell, or exit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Strategies are not backtested before using real capital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Decisions based on guesses rather than data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Frequently changing strategies without sufficient evidence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61475" y="2772866"/>
            <a:ext cx="5301125" cy="127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2883892"/>
            <a:ext cx="5301125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3. Emotional Trading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1475" y="3117751"/>
            <a:ext cx="591071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Making decisions based on emotions instead of the plan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1475" y="3312517"/>
            <a:ext cx="530112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FOMO buying as prices rise and others profit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Panic selling when prices fall sharply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Holding losing trades on hope of recovery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Revenge trading — increasing risk after a loss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1475" y="4028579"/>
            <a:ext cx="5301125" cy="127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4139605"/>
            <a:ext cx="5301125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5. Poor Trading Discipline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1475" y="4373463"/>
            <a:ext cx="591071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Knowing what to do but failing to follow it consistently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61475" y="4568230"/>
            <a:ext cx="530112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Ignoring planned stop-losses or exit rules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Taking too many unnecessary trades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Entering trades without proper preparation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Failing to review and learn from previous trades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1475" y="5284291"/>
            <a:ext cx="5301125" cy="127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395317"/>
            <a:ext cx="5301125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7. External Market Risks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1475" y="5629176"/>
            <a:ext cx="591071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Factors outside the trader's direct control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1475" y="5823942"/>
            <a:ext cx="530112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Sudden crashes or unexpected price movements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Economic, political, or global  events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Market manipulation and social-media misinformation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235445" y="1628180"/>
            <a:ext cx="5301125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2. Poor Understanding of the Market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35445" y="1862038"/>
            <a:ext cx="591071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 fully understanding what is being traded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35445" y="2056805"/>
            <a:ext cx="530112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Limited understanding of company fundamentals and valuation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Misuse of charts and technical indicators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Limited grasp of options, leverage, and complex products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Failure to recognise changing market conditions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235445" y="2772866"/>
            <a:ext cx="5301125" cy="127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235445" y="2883892"/>
            <a:ext cx="5301125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4. Poor Money &amp; Risk Management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35445" y="3117751"/>
            <a:ext cx="591071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Taking more financial risk than the trader can handle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235445" y="3312517"/>
            <a:ext cx="530112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Investing capital that cannot afford to be lost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Over-concentrating in a single trade or stock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Using excessive borrowed money or leverage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defined stop-loss or maximum drawdown limit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235445" y="4028579"/>
            <a:ext cx="5301125" cy="127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235445" y="4139605"/>
            <a:ext cx="5301125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6. High Cost of Trading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35445" y="4373463"/>
            <a:ext cx="591071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Costs that gradually reduce trading profits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235445" y="4568230"/>
            <a:ext cx="530112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Brokerage, taxes (STT, GST), and other charges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Slippage losses from unfavourable execution prices</a:t>
            </a:r>
            <a:endParaRPr lang="en-US" sz="850" dirty="0"/>
          </a:p>
          <a:p>
            <a:pPr algn="l" marL="172720" indent="-17272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Frequent trading amplifying total cost burden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0402"/>
            <a:ext cx="931839" cy="161429"/>
          </a:xfrm>
          <a:prstGeom prst="roundRect">
            <a:avLst>
              <a:gd name="adj" fmla="val 47422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25172" y="552252"/>
            <a:ext cx="1414030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MECE FRAMEWORK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05743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Seven Root Causes of Retail Trading Losses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61475" y="1127621"/>
            <a:ext cx="10868745" cy="26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following MECE tree decomposes the core problem —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negative net returns for ~91% of retail traders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into seven mutually exclusive, collectively exhaustive root causes. Each cause is independently actionable and collectively accountable for each Major KPIs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0798"/>
            <a:ext cx="8737381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1395"/>
            <a:ext cx="837683" cy="147935"/>
          </a:xfrm>
          <a:prstGeom prst="roundRect">
            <a:avLst>
              <a:gd name="adj" fmla="val 47435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9913" y="550565"/>
            <a:ext cx="1330391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PARETO ANALYSIS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689372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80/20 Rule: A Small Number of Causes Drive the Majority of Losses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61475" y="1069280"/>
            <a:ext cx="1147833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Approximately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80% of trading losses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attributable to five dominant causes. Addressing these few factors can produce disproportionately large improvements in trader outcomes.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1475" y="1294011"/>
            <a:ext cx="6426138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Pareto Chart: Trading Loss Causes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02767"/>
            <a:ext cx="6426138" cy="42226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61539" y="1243806"/>
            <a:ext cx="4345077" cy="4538067"/>
          </a:xfrm>
          <a:prstGeom prst="roundRect">
            <a:avLst>
              <a:gd name="adj" fmla="val 3230"/>
            </a:avLst>
          </a:prstGeom>
          <a:solidFill>
            <a:srgbClr val="2D5016"/>
          </a:solidFill>
          <a:ln/>
        </p:spPr>
      </p:sp>
      <p:sp>
        <p:nvSpPr>
          <p:cNvPr id="9" name="Text 6"/>
          <p:cNvSpPr/>
          <p:nvPr/>
        </p:nvSpPr>
        <p:spPr>
          <a:xfrm>
            <a:off x="7358970" y="1294011"/>
            <a:ext cx="415021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Insight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58970" y="1496516"/>
            <a:ext cx="475980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major contributors are: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358970" y="1659731"/>
            <a:ext cx="4150216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Clear Trading Plan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Poor Money &amp; Risk Management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Trading Discipline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Emotional Trading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358970" y="2229842"/>
            <a:ext cx="4150216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causes account for approximately 80% of overall defects makeshould be prioritized for corrective and preventive actions.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358970" y="2546747"/>
            <a:ext cx="4150216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58970" y="2640211"/>
            <a:ext cx="4150216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Priority Intervention Order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58970" y="2842716"/>
            <a:ext cx="4150216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Clear Trading Plan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Poor Money &amp; Risk Management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Trading Discipline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Emotional Trading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61475" y="5838329"/>
            <a:ext cx="10868745" cy="498177"/>
          </a:xfrm>
          <a:prstGeom prst="roundRect">
            <a:avLst>
              <a:gd name="adj" fmla="val 17607"/>
            </a:avLst>
          </a:prstGeom>
          <a:solidFill>
            <a:srgbClr val="DDEEE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5" y="5912842"/>
            <a:ext cx="121738" cy="9743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78074" y="5912842"/>
            <a:ext cx="1045471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Trading Plan × RISK–REWARD → TRADING OUTCOME</a:t>
            </a:r>
            <a:endParaRPr lang="en-US" sz="7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 tells us how often we are right; Risk–Reward tells us how much we make when right. Both must be analysed together.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724"/>
            <a:ext cx="1509774" cy="224334"/>
          </a:xfrm>
          <a:prstGeom prst="roundRect">
            <a:avLst>
              <a:gd name="adj" fmla="val 4739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50075" y="599976"/>
            <a:ext cx="1942158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A/B TEST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2619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A/B Test: Accuracy vs Risk-Reward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551644" y="1460698"/>
            <a:ext cx="95881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Same win rate, different win size — different outcome.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1844080"/>
            <a:ext cx="1086874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Fixed Conditions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2120900"/>
            <a:ext cx="1086874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₹10,000 capital | 252 trades | ₹200 risk per trade | 1:1 risk-reward ratio 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2639913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Scenario A — 30% Accuracy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2985889"/>
            <a:ext cx="5254295" cy="11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76 wins | 176 losses</a:t>
            </a:r>
            <a:endParaRPr lang="en-US" sz="1150" dirty="0"/>
          </a:p>
          <a:p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76 × ₹200 = </a:t>
            </a:r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E7D3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₹15,200</a:t>
            </a:r>
            <a:endParaRPr lang="en-US" sz="1150" dirty="0"/>
          </a:p>
          <a:p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176 × ₹200 = </a:t>
            </a:r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C62828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₹35,200</a:t>
            </a:r>
            <a:endParaRPr lang="en-US" sz="11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LOSS: ₹20,000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82275" y="2639913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Scenario B — 50% Accuracy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82275" y="2985889"/>
            <a:ext cx="5254295" cy="11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126 wins | 126 losses</a:t>
            </a:r>
            <a:endParaRPr lang="en-US" sz="1150" dirty="0"/>
          </a:p>
          <a:p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126 × ₹200 = </a:t>
            </a:r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E7D3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₹25,200</a:t>
            </a:r>
            <a:endParaRPr lang="en-US" sz="1150" dirty="0"/>
          </a:p>
          <a:p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126 × ₹200 = </a:t>
            </a:r>
            <a:pPr algn="l" indent="0" marL="0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C62828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₹25,200</a:t>
            </a:r>
            <a:endParaRPr lang="en-US" sz="11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BREAK-EVEN: ₹0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4372173"/>
            <a:ext cx="10868745" cy="503238"/>
          </a:xfrm>
          <a:prstGeom prst="roundRect">
            <a:avLst>
              <a:gd name="adj" fmla="val 26410"/>
            </a:avLst>
          </a:prstGeom>
          <a:solidFill>
            <a:srgbClr val="B6FCB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109" y="4534892"/>
            <a:ext cx="184542" cy="1476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1285" y="4524375"/>
            <a:ext cx="1085088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Improvement: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+₹20,000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vs Scenario 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475" y="5048448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Takeaway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61475" y="5590679"/>
            <a:ext cx="10868745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 accuracy improves results.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50% accuracy with 1:1 risk-reward only breaks even.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Profit needs more than accuracy alone.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5646"/>
            <a:ext cx="1691141" cy="251420"/>
          </a:xfrm>
          <a:prstGeom prst="roundRect">
            <a:avLst>
              <a:gd name="adj" fmla="val 47364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615255"/>
            <a:ext cx="210229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A/B TEST SIMULATION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49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A/B Test: Does Win Size Matter?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356682" y="1608634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Same win rate, different win size — different outcome.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07367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Fixed Conditions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238998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₹10,000 capital | 252 trades | ₹200 risk per trade | 30% win 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3010098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Scenario A — 1:1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61475" y="3464818"/>
            <a:ext cx="5232666" cy="1004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76 wins × ₹200 =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₹15,200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176 losses × ₹200 =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C62828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₹35,200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LOSS of ₹20,000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3010098"/>
            <a:ext cx="523266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Scenario B — 1:3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303904" y="3464818"/>
            <a:ext cx="5232666" cy="1004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76 wins × ₹600 =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₹45,600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176 losses × ₹200 =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C62828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₹35,200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PROFIT of ₹10,400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481647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Takeaway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1475" y="5446911"/>
            <a:ext cx="10868745" cy="84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Same win rate, different win size = different result.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₹200 wins  per trade lose money.</a:t>
            </a:r>
            <a:endParaRPr lang="en-US" sz="1300" dirty="0"/>
          </a:p>
          <a:p>
            <a:pPr algn="l" marL="264160" indent="-26416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₹600 wins per trade turn the setup profitable.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1145"/>
            <a:ext cx="1684990" cy="228898"/>
          </a:xfrm>
          <a:prstGeom prst="roundRect">
            <a:avLst>
              <a:gd name="adj" fmla="val 47379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51762" y="636290"/>
            <a:ext cx="2114001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BEHAVIOURAL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6796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Behaviour vs. Profitability: Four Critical Relationships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18543"/>
            <a:ext cx="1086874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data reveals clear, directional relationships between specific trader behaviours and profitability outcomes. These are not correlations alone — they represent causal pathways supported by SEBI's own research findings.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086471"/>
            <a:ext cx="10868745" cy="3309342"/>
          </a:xfrm>
          <a:prstGeom prst="roundRect">
            <a:avLst>
              <a:gd name="adj" fmla="val 4096"/>
            </a:avLst>
          </a:prstGeom>
          <a:solidFill>
            <a:srgbClr val="E8F3E8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086471"/>
            <a:ext cx="5434373" cy="1762919"/>
          </a:xfrm>
          <a:custGeom>
            <a:avLst/>
            <a:gdLst/>
            <a:ahLst/>
            <a:cxnLst/>
            <a:rect l="l" t="t" r="r" b="b"/>
            <a:pathLst>
              <a:path w="5434373" h="1762919">
                <a:moveTo>
                  <a:pt x="112968" y="0"/>
                </a:moveTo>
                <a:lnTo>
                  <a:pt x="5434373" y="0"/>
                </a:lnTo>
                <a:lnTo>
                  <a:pt x="5434373" y="1762919"/>
                </a:lnTo>
                <a:lnTo>
                  <a:pt x="0" y="1762919"/>
                </a:lnTo>
                <a:lnTo>
                  <a:pt x="0" y="112971"/>
                </a:lnTo>
                <a:arcTo hR="112971" wR="112968" stAng="10800000" swAng="5400000"/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812085" y="2237085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↑ Trade Frequency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2085" y="2544366"/>
            <a:ext cx="5133152" cy="115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→ </a:t>
            </a:r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Lower Net Profit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additional trade increases total cost burden (brokerage, STT, slippage) while the probability of adverse outcomes compounds. High-frequency retail traders consistently underperform low-frequency counterparts on a net basis.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95848" y="2086471"/>
            <a:ext cx="5434373" cy="1762919"/>
          </a:xfrm>
          <a:custGeom>
            <a:avLst/>
            <a:gdLst/>
            <a:ahLst/>
            <a:cxnLst/>
            <a:rect l="l" t="t" r="r" b="b"/>
            <a:pathLst>
              <a:path w="5434373" h="1762919">
                <a:moveTo>
                  <a:pt x="0" y="0"/>
                </a:moveTo>
                <a:lnTo>
                  <a:pt x="5321405" y="0"/>
                </a:lnTo>
                <a:arcTo hR="112971" wR="112968" stAng="16200000" swAng="5400000"/>
                <a:lnTo>
                  <a:pt x="5434373" y="1762919"/>
                </a:lnTo>
                <a:lnTo>
                  <a:pt x="0" y="1762919"/>
                </a:lnTo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2086471"/>
            <a:ext cx="19050" cy="1762919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2" name="Text 10"/>
          <p:cNvSpPr/>
          <p:nvPr/>
        </p:nvSpPr>
        <p:spPr>
          <a:xfrm>
            <a:off x="6246458" y="2237085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↑ Leverage Usage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46458" y="2544366"/>
            <a:ext cx="5133152" cy="115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→ </a:t>
            </a:r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Higher Drawdown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Leverage amplifies both gains and losses symmetrically — but behavioural biases mean traders hold losing leveraged positions longer and exit winning positions too early. Result: asymmetric downside exposure.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1475" y="3849390"/>
            <a:ext cx="5434373" cy="1546423"/>
          </a:xfrm>
          <a:custGeom>
            <a:avLst/>
            <a:gdLst/>
            <a:ahLst/>
            <a:cxnLst/>
            <a:rect l="l" t="t" r="r" b="b"/>
            <a:pathLst>
              <a:path w="5434373" h="1546423">
                <a:moveTo>
                  <a:pt x="0" y="0"/>
                </a:moveTo>
                <a:lnTo>
                  <a:pt x="5434373" y="0"/>
                </a:lnTo>
                <a:lnTo>
                  <a:pt x="5434373" y="1546423"/>
                </a:lnTo>
                <a:lnTo>
                  <a:pt x="112968" y="1546423"/>
                </a:lnTo>
                <a:arcTo hR="112971" wR="112968" stAng="5400000" swAng="5400000"/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3849390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6" name="Text 14"/>
          <p:cNvSpPr/>
          <p:nvPr/>
        </p:nvSpPr>
        <p:spPr>
          <a:xfrm>
            <a:off x="812085" y="4000004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↑ Emotional Decisions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2085" y="4307284"/>
            <a:ext cx="5133152" cy="93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→ </a:t>
            </a:r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Reduced Consistency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FOMO-driven entries and panic-driven exits produce erratic trade timing. Emotional traders systematically buy high and sell low, inverting the fundamental premise of profitable trading.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5848" y="3849390"/>
            <a:ext cx="5434373" cy="1546423"/>
          </a:xfrm>
          <a:custGeom>
            <a:avLst/>
            <a:gdLst/>
            <a:ahLst/>
            <a:cxnLst/>
            <a:rect l="l" t="t" r="r" b="b"/>
            <a:pathLst>
              <a:path w="5434373" h="1546423">
                <a:moveTo>
                  <a:pt x="0" y="0"/>
                </a:moveTo>
                <a:lnTo>
                  <a:pt x="5434373" y="0"/>
                </a:lnTo>
                <a:lnTo>
                  <a:pt x="5434373" y="1433452"/>
                </a:lnTo>
                <a:arcTo hR="112971" wR="112968" stAng="0" swAng="5400000"/>
                <a:lnTo>
                  <a:pt x="0" y="1546423"/>
                </a:lnTo>
                <a:lnTo>
                  <a:pt x="0" y="0"/>
                </a:lnTo>
                <a:close/>
              </a:path>
            </a:pathLst>
          </a:custGeom>
          <a:solidFill>
            <a:srgbClr val="E8F3E8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3849390"/>
            <a:ext cx="19050" cy="1546423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3849390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21" name="Text 19"/>
          <p:cNvSpPr/>
          <p:nvPr/>
        </p:nvSpPr>
        <p:spPr>
          <a:xfrm>
            <a:off x="6246458" y="4000004"/>
            <a:ext cx="513315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↑ Risk Management Quality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246458" y="4307284"/>
            <a:ext cx="5133152" cy="93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→ </a:t>
            </a:r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Higher Long-Term Success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Traders who define position size, set stop-losses before entry, and respect maximum drawdown limits demonstrate significantly improved survival rates and long-term return consistency.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1475" y="5530751"/>
            <a:ext cx="10868745" cy="736104"/>
          </a:xfrm>
          <a:prstGeom prst="roundRect">
            <a:avLst>
              <a:gd name="adj" fmla="val 18416"/>
            </a:avLst>
          </a:prstGeom>
          <a:solidFill>
            <a:srgbClr val="DDEEE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085" y="5702498"/>
            <a:ext cx="188213" cy="15061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50909" y="5688310"/>
            <a:ext cx="1022870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profitable minority — roughly 11% of retail F&amp;O traders — are distinguished primarily by disciplined risk management and lower trading frequency, not superior market prediction ability.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6338"/>
            <a:ext cx="2167875" cy="242292"/>
          </a:xfrm>
          <a:prstGeom prst="roundRect">
            <a:avLst>
              <a:gd name="adj" fmla="val 47393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119" y="754162"/>
            <a:ext cx="258617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 MEASUREMENT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0240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KPIs to Monitor Trading Health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61475" y="1702594"/>
            <a:ext cx="1086874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Sustainable improvement in trading outcomes requires objective, measurable performance indicators. The following three KPIs provide a comprehensive view of trading quality, risk discipline, and capital preservation over time.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24199"/>
            <a:ext cx="3533191" cy="38274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2376" y="2443758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9965" y="2962077"/>
            <a:ext cx="3176210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Optimised Constant Trading Strategy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39965" y="3541018"/>
            <a:ext cx="3176210" cy="2432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standardised, rules-based trading strategy that is rigorously backtested and applied consistently across market conditions. This KPI measures 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strategy adherence rate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the percentage of trades executed strictly in line with the defined plan, without discretionary deviation.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Target: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≥90% plan adherence across all executed trades per month.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203" y="2324199"/>
            <a:ext cx="3533191" cy="38274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00104" y="2443758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07693" y="2962077"/>
            <a:ext cx="31762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Average Risk-Reward Ratio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07693" y="3291880"/>
            <a:ext cx="3176210" cy="2432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ratio of potential profit to potential loss for each trade, measured consistently across the trading journal. A ratio above 1:2 (risking ₹1 to make ₹2) provides a structural edge even with a sub-50% win rate. This KPI monitors whether trades are being 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entered with a positive expected value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Target: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Maintain average Risk:Reward ≥ 1:2 across all positions.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6930" y="2324199"/>
            <a:ext cx="3533191" cy="38274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67832" y="2443758"/>
            <a:ext cx="191289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175420" y="2962077"/>
            <a:ext cx="3176210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Maximum Drawdown Month-on-Month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175420" y="3541018"/>
            <a:ext cx="3176210" cy="2432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peak-to-trough decline in trading capital within each calendar month. Monitoring drawdown MoM ensures that a single bad period does not permanently impair capital. This is the primary 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capital preservation metric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the earliest warning signal of strategy breakdown or emotional trading episodes.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Target: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Maximum monthly drawdown capped at ≤5% of total trading capital.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2294"/>
            <a:ext cx="1378709" cy="219869"/>
          </a:xfrm>
          <a:prstGeom prst="roundRect">
            <a:avLst>
              <a:gd name="adj" fmla="val 47390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615652"/>
            <a:ext cx="1814666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6414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Strategic Recommendations: Five Pillars of Improvement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1475" y="1454845"/>
            <a:ext cx="1086874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Based on the root cause analysis and Pareto prioritisation, the following five interventions address the highest-impact loss drivers. These are sequenced for practical implementation.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88245"/>
            <a:ext cx="3622882" cy="578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132" y="2677815"/>
            <a:ext cx="33335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Risk Management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6132" y="2970312"/>
            <a:ext cx="333356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 risk per trade to ≤1–2% of capital. Define stop-loss level </a:t>
            </a:r>
            <a:pPr algn="l"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before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entry — not after. Never move stop-losses to accommodate hope.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988245"/>
            <a:ext cx="3622882" cy="578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29014" y="2677815"/>
            <a:ext cx="33335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Reduce Overtrading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29014" y="2970312"/>
            <a:ext cx="3333567" cy="1021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exclusively on high-quality, pre-defined setups. Avoid impulsive trades driven by intraday noise or social-media tips. Fewer, better trades outperform frequent, reactive ones.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988245"/>
            <a:ext cx="3622882" cy="578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51896" y="2677815"/>
            <a:ext cx="33335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Trading Journal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051896" y="2970312"/>
            <a:ext cx="3333567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Record every trade — entry, exit, rationale, emotion at the time, and outcome. Analyse patterns of mistakes monthly to drive measurable improvement in decision quality.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136926"/>
            <a:ext cx="3622882" cy="57884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6132" y="4826496"/>
            <a:ext cx="33335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Structured Market Education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06132" y="5118993"/>
            <a:ext cx="3333567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Fully understand derivatives mechanics before trading them. Study position sizing, probability of ruin, and expected value frameworks. Knowledge precedes capital deployment.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4136926"/>
            <a:ext cx="3622882" cy="5788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29014" y="4826496"/>
            <a:ext cx="33335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Performance Review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429014" y="5118993"/>
            <a:ext cx="3333567" cy="1021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Weekly review of trade execution quality. Monthly KPI tracking across Risk-Reward, drawdown, and strategy adherence. Continuous feedback loop drives compounding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2294"/>
            <a:ext cx="1107154" cy="197346"/>
          </a:xfrm>
          <a:prstGeom prst="roundRect">
            <a:avLst>
              <a:gd name="adj" fmla="val 47411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9360" y="611188"/>
            <a:ext cx="1560970" cy="11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05359"/>
            <a:ext cx="10868745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If Recommendations Are Followed: Expected Outcomes by Time Horizon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751310"/>
            <a:ext cx="10868745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interventions outlined are not theoretical — they address the measurable, data-backed root causes of retail trading losses. Implementation across three time horizons produces compounding benefits.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86323" y="2202656"/>
            <a:ext cx="19050" cy="2924969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7" name="Shape 5"/>
          <p:cNvSpPr/>
          <p:nvPr/>
        </p:nvSpPr>
        <p:spPr>
          <a:xfrm>
            <a:off x="5578931" y="2339280"/>
            <a:ext cx="389821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8" name="Shape 6"/>
          <p:cNvSpPr/>
          <p:nvPr/>
        </p:nvSpPr>
        <p:spPr>
          <a:xfrm>
            <a:off x="5949702" y="2202656"/>
            <a:ext cx="292291" cy="292298"/>
          </a:xfrm>
          <a:prstGeom prst="roundRect">
            <a:avLst>
              <a:gd name="adj" fmla="val 40013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5998417" y="2227014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1475" y="2247305"/>
            <a:ext cx="478470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AF37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Short Term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1475" y="2503884"/>
            <a:ext cx="4784705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Lower losses</a:t>
            </a:r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from immediate application of stop-loss discipline and leverage caps.</a:t>
            </a:r>
            <a:endParaRPr lang="en-US" sz="1000" dirty="0"/>
          </a:p>
          <a:p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Better discipline</a:t>
            </a:r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through structured trade planning and journal adoption.</a:t>
            </a:r>
            <a:endParaRPr lang="en-US" sz="1000" dirty="0"/>
          </a:p>
          <a:p>
            <a:pPr algn="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Reduction in impulsive, emotion-driven trades within the first month of consistent practice.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22944" y="3037681"/>
            <a:ext cx="389821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9702" y="2901057"/>
            <a:ext cx="292291" cy="292298"/>
          </a:xfrm>
          <a:prstGeom prst="roundRect">
            <a:avLst>
              <a:gd name="adj" fmla="val 40013"/>
            </a:avLst>
          </a:prstGeom>
          <a:solidFill>
            <a:srgbClr val="E8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5998417" y="2925415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45516" y="2945705"/>
            <a:ext cx="478470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AF37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Medium Term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45516" y="3202285"/>
            <a:ext cx="4784705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Improved consistency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strategy adherence rates increase and behavioural patterns stabilise.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Better risk-adjusted returns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the Risk-Reward ratio improves and drawdown events decrease in frequency and severity.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Trading journal insights begin to surface repeatable edge opportunities.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8931" y="3803352"/>
            <a:ext cx="389821" cy="19050"/>
          </a:xfrm>
          <a:prstGeom prst="roundRect">
            <a:avLst>
              <a:gd name="adj" fmla="val 49999"/>
            </a:avLst>
          </a:prstGeom>
          <a:solidFill>
            <a:srgbClr val="CED9C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9702" y="3666728"/>
            <a:ext cx="292291" cy="292298"/>
          </a:xfrm>
          <a:prstGeom prst="roundRect">
            <a:avLst>
              <a:gd name="adj" fmla="val 40013"/>
            </a:avLst>
          </a:prstGeom>
          <a:solidFill>
            <a:srgbClr val="E8F3E8"/>
          </a:solidFill>
          <a:ln/>
        </p:spPr>
      </p:sp>
      <p:sp>
        <p:nvSpPr>
          <p:cNvPr id="19" name="Text 17"/>
          <p:cNvSpPr/>
          <p:nvPr/>
        </p:nvSpPr>
        <p:spPr>
          <a:xfrm>
            <a:off x="5998417" y="3691086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1475" y="3711377"/>
            <a:ext cx="478470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4AF37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Long Term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1475" y="3967956"/>
            <a:ext cx="4784705" cy="1159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Sustainable profitability</a:t>
            </a:r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built on process repeatability rather than market prediction.</a:t>
            </a:r>
            <a:endParaRPr lang="en-US" sz="1000" dirty="0"/>
          </a:p>
          <a:p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Reduced emotional decision-making</a:t>
            </a:r>
            <a:pPr algn="r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systematic protocols replace reactive behaviour.</a:t>
            </a:r>
            <a:endParaRPr lang="en-US" sz="1000" dirty="0"/>
          </a:p>
          <a:p>
            <a:pPr algn="r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Enhanced capital preservation</a:t>
            </a:r>
            <a:pPr algn="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compounding works in the trader's favour when drawdowns are controlled and gains are allowed to run.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475" y="5293023"/>
            <a:ext cx="3548470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≤2%</a:t>
            </a:r>
            <a:endParaRPr lang="en-US" sz="3350" dirty="0"/>
          </a:p>
        </p:txBody>
      </p:sp>
      <p:sp>
        <p:nvSpPr>
          <p:cNvPr id="23" name="Text 21"/>
          <p:cNvSpPr/>
          <p:nvPr/>
        </p:nvSpPr>
        <p:spPr>
          <a:xfrm>
            <a:off x="661475" y="5853708"/>
            <a:ext cx="354847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Risk Per Trade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1475" y="6110288"/>
            <a:ext cx="354847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Recommended cap to limit single-trade damage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21563" y="5293023"/>
            <a:ext cx="3548470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1:2</a:t>
            </a:r>
            <a:endParaRPr lang="en-US" sz="3350" dirty="0"/>
          </a:p>
        </p:txBody>
      </p:sp>
      <p:sp>
        <p:nvSpPr>
          <p:cNvPr id="26" name="Text 24"/>
          <p:cNvSpPr/>
          <p:nvPr/>
        </p:nvSpPr>
        <p:spPr>
          <a:xfrm>
            <a:off x="4321563" y="5853708"/>
            <a:ext cx="354847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Min Risk-Reward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321563" y="6110288"/>
            <a:ext cx="354847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Structural edge even below 50% win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81651" y="5293023"/>
            <a:ext cx="3548470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≤5%</a:t>
            </a:r>
            <a:endParaRPr lang="en-US" sz="3350" dirty="0"/>
          </a:p>
        </p:txBody>
      </p:sp>
      <p:sp>
        <p:nvSpPr>
          <p:cNvPr id="29" name="Text 27"/>
          <p:cNvSpPr/>
          <p:nvPr/>
        </p:nvSpPr>
        <p:spPr>
          <a:xfrm>
            <a:off x="7981651" y="5853708"/>
            <a:ext cx="354847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Monthly Drawdown Cap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981651" y="6110288"/>
            <a:ext cx="354847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Capital preservation guardrail MoM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721"/>
            <a:ext cx="1062408" cy="183952"/>
          </a:xfrm>
          <a:prstGeom prst="roundRect">
            <a:avLst>
              <a:gd name="adj" fmla="val 47396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34101" y="567035"/>
            <a:ext cx="1526740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 TAKEAWAYS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45629"/>
            <a:ext cx="10868745" cy="75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Conclusions: Trading Success Is a Process Problem, Not a Prediction Problem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61475" y="1618555"/>
            <a:ext cx="10868745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evidence from SEBI's data is unambiguous: most retail trading losses are driven not by market unpredictability alone, but by a concentrated set of controllable behavioural and structural failures.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2023467"/>
            <a:ext cx="3571190" cy="1236266"/>
          </a:xfrm>
          <a:prstGeom prst="roundRect">
            <a:avLst>
              <a:gd name="adj" fmla="val 8815"/>
            </a:avLst>
          </a:prstGeom>
          <a:solidFill>
            <a:srgbClr val="E8F3E8"/>
          </a:solidFill>
          <a:ln/>
        </p:spPr>
      </p:sp>
      <p:sp>
        <p:nvSpPr>
          <p:cNvPr id="7" name="Shape 5"/>
          <p:cNvSpPr/>
          <p:nvPr/>
        </p:nvSpPr>
        <p:spPr>
          <a:xfrm>
            <a:off x="782519" y="2144514"/>
            <a:ext cx="363231" cy="36324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2429" y="2244427"/>
            <a:ext cx="163409" cy="1634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2519" y="2585244"/>
            <a:ext cx="3329103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Poor Risk Management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2519" y="2820988"/>
            <a:ext cx="3329103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single highest-impact lever — defines survival in markets.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10153" y="2023467"/>
            <a:ext cx="3571290" cy="1236266"/>
          </a:xfrm>
          <a:prstGeom prst="roundRect">
            <a:avLst>
              <a:gd name="adj" fmla="val 8815"/>
            </a:avLst>
          </a:prstGeom>
          <a:solidFill>
            <a:srgbClr val="E8F3E8"/>
          </a:solidFill>
          <a:ln/>
        </p:spPr>
      </p:sp>
      <p:sp>
        <p:nvSpPr>
          <p:cNvPr id="12" name="Shape 9"/>
          <p:cNvSpPr/>
          <p:nvPr/>
        </p:nvSpPr>
        <p:spPr>
          <a:xfrm>
            <a:off x="4431197" y="2144514"/>
            <a:ext cx="363231" cy="36324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1108" y="2244427"/>
            <a:ext cx="163409" cy="1634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1197" y="2585244"/>
            <a:ext cx="33292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Excessive Leverage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431197" y="2820988"/>
            <a:ext cx="332920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Amplifies losses asymmetrically; the most common path to account destruction.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958931" y="2023467"/>
            <a:ext cx="3571290" cy="1236266"/>
          </a:xfrm>
          <a:prstGeom prst="roundRect">
            <a:avLst>
              <a:gd name="adj" fmla="val 8815"/>
            </a:avLst>
          </a:prstGeom>
          <a:solidFill>
            <a:srgbClr val="E8F3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079974" y="2144514"/>
            <a:ext cx="363231" cy="36324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9885" y="2244427"/>
            <a:ext cx="163409" cy="1634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79974" y="2585244"/>
            <a:ext cx="332920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Emotional Decision-Making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079974" y="2820988"/>
            <a:ext cx="332920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FOMO and panic systematically invert rational trade timing.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61475" y="3337223"/>
            <a:ext cx="5395579" cy="1077416"/>
          </a:xfrm>
          <a:prstGeom prst="roundRect">
            <a:avLst>
              <a:gd name="adj" fmla="val 10115"/>
            </a:avLst>
          </a:prstGeom>
          <a:solidFill>
            <a:srgbClr val="E8F3E8"/>
          </a:solidFill>
          <a:ln/>
        </p:spPr>
      </p:sp>
      <p:sp>
        <p:nvSpPr>
          <p:cNvPr id="22" name="Shape 17"/>
          <p:cNvSpPr/>
          <p:nvPr/>
        </p:nvSpPr>
        <p:spPr>
          <a:xfrm>
            <a:off x="782519" y="3458270"/>
            <a:ext cx="363231" cy="36324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429" y="3558183"/>
            <a:ext cx="163409" cy="1634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2519" y="3898999"/>
            <a:ext cx="51534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Overtrading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82519" y="4134743"/>
            <a:ext cx="5153491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Increases cost drag while reducing signal-to-noise in decision-making.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134542" y="3337223"/>
            <a:ext cx="5395678" cy="1077416"/>
          </a:xfrm>
          <a:prstGeom prst="roundRect">
            <a:avLst>
              <a:gd name="adj" fmla="val 10115"/>
            </a:avLst>
          </a:prstGeom>
          <a:solidFill>
            <a:srgbClr val="E8F3E8"/>
          </a:solidFill>
          <a:ln/>
        </p:spPr>
      </p:sp>
      <p:sp>
        <p:nvSpPr>
          <p:cNvPr id="27" name="Shape 21"/>
          <p:cNvSpPr/>
          <p:nvPr/>
        </p:nvSpPr>
        <p:spPr>
          <a:xfrm>
            <a:off x="6255586" y="3458270"/>
            <a:ext cx="363231" cy="36324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5496" y="3558183"/>
            <a:ext cx="163409" cy="16341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255586" y="3898999"/>
            <a:ext cx="51535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Transaction Costs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255586" y="4134743"/>
            <a:ext cx="5153591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Silently erode profitability; compounded by high-frequency behaviour.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843041" y="4589066"/>
            <a:ext cx="1129676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"Success in trading is less about predicting the market and more about managing risk, maintaining discipline, and following a well-defined process."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61475" y="4501852"/>
            <a:ext cx="12700" cy="333276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  <p:sp>
        <p:nvSpPr>
          <p:cNvPr id="33" name="Shape 26"/>
          <p:cNvSpPr/>
          <p:nvPr/>
        </p:nvSpPr>
        <p:spPr>
          <a:xfrm>
            <a:off x="574363" y="4922341"/>
            <a:ext cx="5460963" cy="1404838"/>
          </a:xfrm>
          <a:prstGeom prst="roundRect">
            <a:avLst>
              <a:gd name="adj" fmla="val 12412"/>
            </a:avLst>
          </a:prstGeom>
          <a:solidFill>
            <a:srgbClr val="2D5016"/>
          </a:solidFill>
          <a:ln/>
        </p:spPr>
      </p:sp>
      <p:sp>
        <p:nvSpPr>
          <p:cNvPr id="34" name="Text 27"/>
          <p:cNvSpPr/>
          <p:nvPr/>
        </p:nvSpPr>
        <p:spPr>
          <a:xfrm>
            <a:off x="695407" y="4999831"/>
            <a:ext cx="5218875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Profitable Minority Do This Differently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695407" y="5266531"/>
            <a:ext cx="5218875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~11% of retail traders who generate consistent profits are not better at forecasting. They are better at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process adherence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loss limitation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emotional regulation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These are learnable, measurable skills — not innate talent.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6249831" y="4999831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Prepared By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6249831" y="5266531"/>
            <a:ext cx="589632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Rajesh Keshri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249831" y="5542855"/>
            <a:ext cx="5286739" cy="127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6249831" y="5673030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Source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6249831" y="5939730"/>
            <a:ext cx="5286739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SEBI Study on Profit and Loss of Individual Traders in Equity F&amp;O Segment — Securities and Exchange Board of India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2026-09-14T15:11:12Z</dcterms:created>
  <dcterms:modified xsi:type="dcterms:W3CDTF">2026-09-14T15:11:12Z</dcterms:modified>
</cp:coreProperties>
</file>